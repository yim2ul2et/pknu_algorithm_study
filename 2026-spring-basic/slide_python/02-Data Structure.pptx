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9" r:id="rId3"/>
    <p:sldId id="275" r:id="rId4"/>
    <p:sldId id="276" r:id="rId5"/>
    <p:sldId id="277" r:id="rId6"/>
    <p:sldId id="278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06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1D4E8-6649-FE44-2884-38A6AF34B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DBA927-D7B4-77A4-9DE0-CF92B92F2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10A72D-7601-FF27-40DE-CB277777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75967-A251-8703-1B69-81545E70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0B6DA2-19D1-9BCE-A71C-8A7D42AA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50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C5D0C-251D-12BE-6550-D0023C039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56324-41B7-760E-CEC6-CC9910705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E3E9D-38B6-7600-2ECD-06CFAA7E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DD109-CF12-BD4A-AB2C-4B8125FF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89B18-5A29-06AB-B9FD-FDF78350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367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CFD33-AC8E-CE48-CC84-5148F916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50CFC4-8996-A961-0BBD-BDB98484F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0C1A97-E49C-D136-27AE-92DE74923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1AED2-3C9B-93EA-9118-BC964914B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01269-0F57-6AA6-D6E2-AB4ED8DE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1255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D51A5-3289-C650-70CA-D7170F4F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6D665-BC0C-D443-0BD8-E65D05395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5C09C6-C131-9E27-DD44-CCE48ABA8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B6A5BA-D2B9-1B1A-97B2-A109E78C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62F4-4B1C-CDFC-F15C-8491CE4CE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5C9FCE-8BF6-D19F-2F50-9CB36858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14421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C35EA-7FEA-1840-C1D1-83BBE8F6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2B9626-DA58-F274-2A74-CD295C73B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E951D-7EE3-7811-30F5-FB8D7C53C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8115A3-5033-AD6A-A434-0D64A469E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B3A681-A015-E53E-E3CE-D84DE99BC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A0271C7-7215-84FF-ABCB-F1B76578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DABC4BC-7963-5585-941A-3AF9A325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20DA90-CC80-4FD2-173B-9CFB2F46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27674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7496D-4C99-9244-352A-C4066568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87A44C-BD5D-1C3A-4242-F01F5E5C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EE2612-B17B-574E-8B6F-C8DE47B06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47E18A-2C0E-F043-1023-F4BD5108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386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487729-7430-ADA3-75A1-F544DDA0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A86DEE-71C3-C74A-90DD-86D1FCEC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EE5BFE-1F69-EEFB-6232-8F1AC32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073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4884-1C69-220A-B485-9A0025C6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BC21A9-FC67-86D9-AF20-188C21191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F08E4F-B72B-2F6A-77E8-D37CD9921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22F340-7229-F2A1-61C8-D99ACEBF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242CA4-1B22-FC2A-A8C5-697A77B73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457AA6-7C33-1F29-FF48-DFC1C56F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369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BD772-5B86-537B-0957-B6A09BAF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F64A6E-5D1F-366A-81BC-AF5C74949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B9A2F-D971-41FB-A949-B58909EE0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ADA666-702D-A457-D448-EEDC699A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6A0D94-B024-B170-BA6F-72A661403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4FFA0D-19BD-541F-B7A0-C9F91312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057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BFA00-AECF-2B61-8063-94ECB4BD0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F5011B-3549-0FD4-57AD-139435E89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29C3-D525-D178-AB06-B2C9135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3544A-C357-D3D5-1BA5-5F34BF13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728CED-9852-F42A-B2D1-4BF5F471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684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B75BE2-22F3-FEEA-B008-367332A56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5CD19F-7BC6-1A13-E415-FDB44EADA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9307E6-37D3-CB85-3848-2DB94E2F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F06F-2BB2-13BF-C9E7-BBF8CC04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46C674-23A8-6E17-9780-998B8A93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9411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">
            <a:extLst>
              <a:ext uri="{FF2B5EF4-FFF2-40B4-BE49-F238E27FC236}">
                <a16:creationId xmlns:a16="http://schemas.microsoft.com/office/drawing/2014/main" id="{85E695EC-61B8-3D43-9FF7-B538CF568DFA}"/>
              </a:ext>
            </a:extLst>
          </p:cNvPr>
          <p:cNvSpPr txBox="1"/>
          <p:nvPr userDrawn="1"/>
        </p:nvSpPr>
        <p:spPr>
          <a:xfrm>
            <a:off x="4826000" y="3819525"/>
            <a:ext cx="25400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200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2026-1학기 </a:t>
            </a:r>
            <a:r>
              <a:rPr lang="en-US" sz="1200" b="0" i="0" u="none" strike="noStrike" dirty="0" err="1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부경대학교</a:t>
            </a:r>
            <a:r>
              <a:rPr lang="en-US" sz="1200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알고리즘</a:t>
            </a:r>
            <a:r>
              <a:rPr lang="en-US" sz="1200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200" b="0" i="0" u="none" strike="noStrike" dirty="0" err="1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스터디</a:t>
            </a:r>
            <a:r>
              <a:rPr lang="en-US" sz="1200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</p:txBody>
      </p:sp>
      <p:sp>
        <p:nvSpPr>
          <p:cNvPr id="10" name="텍스트 개체 틀 17">
            <a:extLst>
              <a:ext uri="{FF2B5EF4-FFF2-40B4-BE49-F238E27FC236}">
                <a16:creationId xmlns:a16="http://schemas.microsoft.com/office/drawing/2014/main" id="{149CD598-C702-1804-81D9-4F5CE72E0F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038475"/>
            <a:ext cx="11436350" cy="781050"/>
          </a:xfrm>
          <a:prstGeom prst="rect">
            <a:avLst/>
          </a:prstGeom>
        </p:spPr>
        <p:txBody>
          <a:bodyPr/>
          <a:lstStyle>
            <a:lvl1pPr algn="ctr">
              <a:buNone/>
              <a:defRPr sz="5200">
                <a:latin typeface="Pretendard Black" panose="020B0600000101010101" charset="-127"/>
                <a:ea typeface="Pretendard Black" panose="020B0600000101010101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3904567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3D0A44CA-21A2-52D0-0FF3-F5A03F2833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1181100"/>
            <a:ext cx="11436350" cy="548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50000"/>
              </a:lnSpc>
              <a:spcBef>
                <a:spcPts val="1801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>
                <a:latin typeface="Pretendard Regular" panose="020B0600000101010101" charset="-127"/>
                <a:ea typeface="Pretendard Regular" panose="020B0600000101010101" charset="-127"/>
              </a:defRPr>
            </a:lvl1pPr>
            <a:lvl2pPr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1">
                <a:latin typeface="Pretendard Regular" panose="020B0600000101010101" charset="-127"/>
                <a:ea typeface="Pretendard Regular" panose="020B0600000101010101" charset="-127"/>
              </a:defRPr>
            </a:lvl2pPr>
            <a:lvl3pPr>
              <a:lnSpc>
                <a:spcPct val="100000"/>
              </a:lnSpc>
              <a:spcBef>
                <a:spcPts val="300"/>
              </a:spcBef>
              <a:buFont typeface="Pretendard Regular" panose="020B0600000101010101" charset="-127"/>
              <a:buChar char="※"/>
              <a:defRPr sz="1100">
                <a:solidFill>
                  <a:schemeClr val="bg1">
                    <a:lumMod val="50000"/>
                  </a:schemeClr>
                </a:solidFill>
                <a:latin typeface="Pretendard Regular" panose="020B0600000101010101" charset="-127"/>
                <a:ea typeface="Pretendard Regular" panose="020B0600000101010101" charset="-127"/>
              </a:defRPr>
            </a:lvl3pPr>
            <a:lvl4pPr>
              <a:buFont typeface="Arial" panose="020B0604020202020204" pitchFamily="34" charset="0"/>
              <a:buChar char="■"/>
              <a:defRPr/>
            </a:lvl4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3348AB60-9521-0AD2-42F8-56780A91FF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04800"/>
            <a:ext cx="11436350" cy="609600"/>
          </a:xfrm>
          <a:prstGeom prst="rect">
            <a:avLst/>
          </a:prstGeom>
        </p:spPr>
        <p:txBody>
          <a:bodyPr/>
          <a:lstStyle>
            <a:lvl1pPr>
              <a:buNone/>
              <a:defRPr sz="3500">
                <a:latin typeface="Pretendard Bold" panose="020B0600000101010101" charset="-127"/>
                <a:ea typeface="Pretendard Bold" panose="020B0600000101010101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26848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52EE95-94CC-6909-1BB0-744FF79E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D42E80-E1BE-2C04-EA93-316F1E055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FCC59-6B99-0E8F-7C32-7E7D934A1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CAA13-1342-C047-B039-198571E565C3}" type="datetimeFigureOut">
              <a:rPr kumimoji="1" lang="ko-KR" altLang="en-US" smtClean="0"/>
              <a:t>2026. 3. 6.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FB79E-E3E2-4C45-8C22-6DD745794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FD7D65-73DD-45A0-9218-72D6B729F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2DAEA-DB87-4246-A920-271A91E0315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517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EF898D4-C9C5-11BE-2AD6-C26603688B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Data Structure for Python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48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6E0291-67E5-4E20-BD10-CDF4F36A5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이 강의자료는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 Structure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강의자료의 문제와 해설을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Python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옮긴 것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먼저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 Structure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강의자료를 읽어보자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BB6A7D-FC0C-8D10-CC15-E7AD2BD22C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머리말</a:t>
            </a:r>
          </a:p>
        </p:txBody>
      </p:sp>
    </p:spTree>
    <p:extLst>
      <p:ext uri="{BB962C8B-B14F-4D97-AF65-F5344CB8AC3E}">
        <p14:creationId xmlns:p14="http://schemas.microsoft.com/office/powerpoint/2010/main" val="160317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7A3186-6475-4B17-032F-43227E492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numCol="2"/>
          <a:lstStyle/>
          <a:p>
            <a:pPr>
              <a:spcBef>
                <a:spcPts val="900"/>
              </a:spcBef>
            </a:pPr>
            <a:r>
              <a:rPr lang="ko-KR" altLang="en-US" dirty="0"/>
              <a:t>클래스</a:t>
            </a:r>
            <a:endParaRPr lang="en-US" altLang="ko-KR" dirty="0"/>
          </a:p>
          <a:p>
            <a:pPr lvl="1">
              <a:spcBef>
                <a:spcPts val="900"/>
              </a:spcBef>
            </a:pPr>
            <a:r>
              <a:rPr lang="en-US" altLang="ko-KR" dirty="0"/>
              <a:t>list</a:t>
            </a:r>
          </a:p>
          <a:p>
            <a:pPr lvl="1">
              <a:spcBef>
                <a:spcPts val="900"/>
              </a:spcBef>
            </a:pPr>
            <a:r>
              <a:rPr lang="en-US" altLang="ko-KR" dirty="0"/>
              <a:t>deque</a:t>
            </a:r>
          </a:p>
          <a:p>
            <a:pPr lvl="1">
              <a:spcBef>
                <a:spcPts val="900"/>
              </a:spcBef>
            </a:pPr>
            <a:r>
              <a:rPr lang="en-US" altLang="ko-KR" dirty="0"/>
              <a:t>set</a:t>
            </a:r>
          </a:p>
          <a:p>
            <a:pPr lvl="1">
              <a:spcBef>
                <a:spcPts val="900"/>
              </a:spcBef>
            </a:pPr>
            <a:r>
              <a:rPr lang="en-US" altLang="ko-KR" dirty="0" err="1"/>
              <a:t>dict</a:t>
            </a:r>
            <a:endParaRPr lang="en-US" altLang="ko-KR" dirty="0"/>
          </a:p>
          <a:p>
            <a:pPr>
              <a:spcBef>
                <a:spcPts val="900"/>
              </a:spcBef>
            </a:pP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35AF89-6E1A-E9C4-00FA-F12E45CBA9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/>
              <a:t> </a:t>
            </a:r>
            <a:r>
              <a:rPr lang="ko-KR" altLang="en-US" sz="7200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206586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E268FE-E148-CA80-F2EE-82F759FEC1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list</a:t>
            </a:r>
            <a:r>
              <a:rPr kumimoji="1" lang="ko-KR" altLang="en-US" dirty="0"/>
              <a:t>란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ko-KR" altLang="en-US" dirty="0" err="1"/>
              <a:t>파이썬의</a:t>
            </a:r>
            <a:r>
              <a:rPr kumimoji="1" lang="ko-KR" altLang="en-US" dirty="0"/>
              <a:t> 가장 기본적인 클래스로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PS</a:t>
            </a:r>
            <a:r>
              <a:rPr kumimoji="1" lang="ko-KR" altLang="en-US" dirty="0"/>
              <a:t>에서는 주로 배열 혹은 스택의 역할을 함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인덱스 접근 가능</a:t>
            </a:r>
            <a:endParaRPr kumimoji="1" lang="en-US" altLang="ko-KR" dirty="0"/>
          </a:p>
          <a:p>
            <a:pPr lvl="2"/>
            <a:r>
              <a:rPr kumimoji="1" lang="en-US" altLang="ko-KR" dirty="0" err="1"/>
              <a:t>c++</a:t>
            </a:r>
            <a:r>
              <a:rPr kumimoji="1" lang="ko-KR" altLang="en-US" dirty="0"/>
              <a:t>과 마찬가지로 </a:t>
            </a:r>
            <a:r>
              <a:rPr kumimoji="1" lang="en-US" altLang="ko-KR" dirty="0"/>
              <a:t>0-based</a:t>
            </a:r>
            <a:r>
              <a:rPr kumimoji="1" lang="ko-KR" altLang="en-US" dirty="0"/>
              <a:t> </a:t>
            </a:r>
            <a:r>
              <a:rPr kumimoji="1" lang="en-US" altLang="ko-KR" dirty="0"/>
              <a:t>index</a:t>
            </a:r>
          </a:p>
          <a:p>
            <a:pPr lvl="1"/>
            <a:r>
              <a:rPr kumimoji="1" lang="ko-KR" altLang="en-US" dirty="0"/>
              <a:t>원소 삽입 및 삭제 가능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내부적으로 동적 배열처럼 작동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서로 다른 타입 저장 가능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= [1, 2, 3] </a:t>
            </a:r>
            <a:r>
              <a:rPr kumimoji="1" lang="ko-KR" altLang="en-US" dirty="0"/>
              <a:t>혹은 </a:t>
            </a:r>
            <a:r>
              <a:rPr kumimoji="1" lang="en-US" altLang="ko-KR" dirty="0"/>
              <a:t>a = list()</a:t>
            </a:r>
            <a:r>
              <a:rPr kumimoji="1" lang="ko-KR" altLang="en-US" dirty="0"/>
              <a:t>와 같은 방법으로 생성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복잡한 입력을 다루기 위해 </a:t>
            </a:r>
            <a:r>
              <a:rPr kumimoji="1" lang="ko-KR" altLang="en-US" dirty="0" err="1"/>
              <a:t>파이썬의</a:t>
            </a:r>
            <a:r>
              <a:rPr kumimoji="1" lang="ko-KR" altLang="en-US" dirty="0"/>
              <a:t> 리스트 </a:t>
            </a:r>
            <a:r>
              <a:rPr kumimoji="1" lang="ko-KR" altLang="en-US" dirty="0" err="1"/>
              <a:t>컴프리헨션에</a:t>
            </a:r>
            <a:r>
              <a:rPr kumimoji="1" lang="ko-KR" altLang="en-US" dirty="0"/>
              <a:t> 대해 공부해보자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40DFFF-5DA4-CDCE-C5C3-0651A25122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list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81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823A4AD-0573-7D69-2B43-2C498D47E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list </a:t>
            </a:r>
            <a:r>
              <a:rPr kumimoji="1" lang="ko-KR" altLang="en-US" dirty="0"/>
              <a:t>메소드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append(x) : x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리스트 뒤에 추가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주로 </a:t>
            </a:r>
            <a:r>
              <a:rPr kumimoji="1" lang="en-US" altLang="ko-KR" dirty="0"/>
              <a:t>stack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push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구현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pop()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리스트의 뒤에서 제거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주로 </a:t>
            </a:r>
            <a:r>
              <a:rPr kumimoji="1" lang="en-US" altLang="ko-KR" dirty="0"/>
              <a:t>stack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pop</a:t>
            </a:r>
            <a:r>
              <a:rPr kumimoji="1" lang="ko-KR" altLang="en-US" dirty="0"/>
              <a:t>을 구현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len</a:t>
            </a:r>
            <a:r>
              <a:rPr kumimoji="1" lang="en-US" altLang="ko-KR" dirty="0"/>
              <a:t>()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리스트의 길이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sort() : </a:t>
            </a:r>
            <a:r>
              <a:rPr kumimoji="1" lang="ko-KR" altLang="en-US" dirty="0"/>
              <a:t>리스트를 오름 차순으로 정렬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insert(</a:t>
            </a:r>
            <a:r>
              <a:rPr kumimoji="1" lang="en-US" altLang="ko-KR" dirty="0" err="1"/>
              <a:t>i</a:t>
            </a:r>
            <a:r>
              <a:rPr kumimoji="1" lang="en-US" altLang="ko-KR" dirty="0"/>
              <a:t>, x) : </a:t>
            </a:r>
            <a:r>
              <a:rPr kumimoji="1" lang="en-US" altLang="ko-KR" dirty="0" err="1"/>
              <a:t>i</a:t>
            </a:r>
            <a:r>
              <a:rPr kumimoji="1" lang="ko-KR" altLang="en-US" dirty="0"/>
              <a:t> 번째 원소에 </a:t>
            </a:r>
            <a:r>
              <a:rPr kumimoji="1" lang="en-US" altLang="ko-KR" dirty="0"/>
              <a:t>x </a:t>
            </a:r>
            <a:r>
              <a:rPr kumimoji="1" lang="ko-KR" altLang="en-US" dirty="0"/>
              <a:t>삽입</a:t>
            </a:r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F86EB8-DB4B-FD80-99D8-61C91C756A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list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982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2CB21CD-46CB-C0BA-6C1E-28286BD79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C93F1E-5333-1AAC-B550-91E14DBA02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제로 </a:t>
            </a:r>
            <a:r>
              <a:rPr kumimoji="1" lang="en-US" altLang="ko-KR" sz="2000" dirty="0">
                <a:solidFill>
                  <a:schemeClr val="bg1">
                    <a:lumMod val="50000"/>
                  </a:schemeClr>
                </a:solidFill>
              </a:rPr>
              <a:t>BOJ</a:t>
            </a:r>
            <a:r>
              <a:rPr kumimoji="1" lang="ko-KR" altLang="en-US" sz="2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ko-KR" sz="2000" dirty="0">
                <a:solidFill>
                  <a:schemeClr val="bg1">
                    <a:lumMod val="50000"/>
                  </a:schemeClr>
                </a:solidFill>
              </a:rPr>
              <a:t>10773</a:t>
            </a:r>
            <a:endParaRPr kumimoji="1"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1E32D0-0CA6-9C50-8835-58FEE09AF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04" y="1181100"/>
            <a:ext cx="4444591" cy="493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9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04DD15C-40E5-C5A5-3C80-556D07C16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deque</a:t>
            </a:r>
            <a:r>
              <a:rPr kumimoji="1" lang="ko-KR" altLang="en-US" dirty="0"/>
              <a:t>란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en-US" altLang="ko-KR" dirty="0"/>
              <a:t>collections </a:t>
            </a:r>
            <a:r>
              <a:rPr kumimoji="1" lang="ko-KR" altLang="en-US" dirty="0"/>
              <a:t>모듈에서 제공하는 클래스로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데크</a:t>
            </a:r>
            <a:r>
              <a:rPr kumimoji="1" lang="ko-KR" altLang="en-US" dirty="0"/>
              <a:t> </a:t>
            </a:r>
            <a:r>
              <a:rPr kumimoji="1" lang="en-US" altLang="ko-KR" dirty="0"/>
              <a:t>(dequeue)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구현한 컨테이너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양방향 삽입</a:t>
            </a:r>
            <a:r>
              <a:rPr kumimoji="1" lang="en-US" altLang="ko-KR" dirty="0"/>
              <a:t>/</a:t>
            </a:r>
            <a:r>
              <a:rPr kumimoji="1" lang="ko-KR" altLang="en-US" dirty="0"/>
              <a:t>삭제를 지원하므로 </a:t>
            </a:r>
            <a:r>
              <a:rPr kumimoji="1" lang="en-US" altLang="ko-KR" dirty="0"/>
              <a:t>PS</a:t>
            </a:r>
            <a:r>
              <a:rPr kumimoji="1" lang="ko-KR" altLang="en-US" dirty="0"/>
              <a:t>에서는 주로 </a:t>
            </a:r>
            <a:r>
              <a:rPr kumimoji="1" lang="en-US" altLang="ko-KR" dirty="0"/>
              <a:t>queue, stack</a:t>
            </a:r>
            <a:r>
              <a:rPr kumimoji="1" lang="ko-KR" altLang="en-US" dirty="0"/>
              <a:t>을 구현할 때 사용함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범용성이 좋아 자주 사용되며 </a:t>
            </a:r>
            <a:r>
              <a:rPr kumimoji="1" lang="ko-KR" altLang="en-US" dirty="0" err="1"/>
              <a:t>데크를</a:t>
            </a:r>
            <a:r>
              <a:rPr kumimoji="1" lang="ko-KR" altLang="en-US" dirty="0"/>
              <a:t> 사용한 양방향 삽입</a:t>
            </a:r>
            <a:r>
              <a:rPr kumimoji="1" lang="en-US" altLang="ko-KR" dirty="0"/>
              <a:t>/</a:t>
            </a:r>
            <a:r>
              <a:rPr kumimoji="1" lang="ko-KR" altLang="en-US" dirty="0"/>
              <a:t>삭제를 요구 하는 문제도 존재하므로 꼭 </a:t>
            </a:r>
            <a:r>
              <a:rPr kumimoji="1" lang="ko-KR" altLang="en-US" dirty="0" err="1"/>
              <a:t>알아두자</a:t>
            </a:r>
            <a:r>
              <a:rPr kumimoji="1" lang="en-US" altLang="ko-KR" dirty="0"/>
              <a:t> </a:t>
            </a:r>
          </a:p>
          <a:p>
            <a:pPr lvl="1"/>
            <a:endParaRPr kumimoji="1"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57AC72-6F7E-DF43-C3E4-20FADAF908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deque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333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4A6C38-20DD-D490-95F4-7E022D68D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deque </a:t>
            </a:r>
            <a:r>
              <a:rPr kumimoji="1" lang="ko-KR" altLang="en-US" dirty="0"/>
              <a:t>메소드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append(x) : </a:t>
            </a:r>
            <a:r>
              <a:rPr kumimoji="1" lang="ko-KR" altLang="en-US" dirty="0"/>
              <a:t>오른쪽 끝에 값 추가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appendLeft</a:t>
            </a:r>
            <a:r>
              <a:rPr kumimoji="1" lang="en-US" altLang="ko-KR" dirty="0"/>
              <a:t>(x) :</a:t>
            </a:r>
            <a:r>
              <a:rPr kumimoji="1" lang="ko-KR" altLang="en-US" dirty="0"/>
              <a:t> 왼쪽 끝에 값 추가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queue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push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구현할 때 주로 사용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pop() : </a:t>
            </a:r>
            <a:r>
              <a:rPr kumimoji="1" lang="ko-KR" altLang="en-US" dirty="0"/>
              <a:t>오른쪽 끝에 값을 제거 후 반환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queue, stack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pop</a:t>
            </a:r>
            <a:r>
              <a:rPr kumimoji="1" lang="ko-KR" altLang="en-US" dirty="0"/>
              <a:t>을 구현할 때 주로 사용</a:t>
            </a:r>
            <a:endParaRPr kumimoji="1" lang="en-US" altLang="ko-KR" dirty="0"/>
          </a:p>
          <a:p>
            <a:pPr lvl="2"/>
            <a:r>
              <a:rPr kumimoji="1" lang="en-US" altLang="ko-KR" dirty="0" err="1"/>
              <a:t>c++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pop</a:t>
            </a:r>
            <a:r>
              <a:rPr kumimoji="1" lang="ko-KR" altLang="en-US" dirty="0"/>
              <a:t>과 달리 값을 반환함</a:t>
            </a:r>
            <a:endParaRPr kumimoji="1" lang="en-US" altLang="ko-KR" dirty="0"/>
          </a:p>
          <a:p>
            <a:pPr lvl="1"/>
            <a:r>
              <a:rPr kumimoji="1" lang="en-US" altLang="ko-KR" dirty="0" err="1"/>
              <a:t>popLeft</a:t>
            </a:r>
            <a:r>
              <a:rPr kumimoji="1" lang="en-US" altLang="ko-KR" dirty="0"/>
              <a:t>() : </a:t>
            </a:r>
            <a:r>
              <a:rPr kumimoji="1" lang="ko-KR" altLang="en-US" dirty="0"/>
              <a:t>왼쪽 끝에 값을 제거 후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= deque(), deque(list)</a:t>
            </a:r>
            <a:r>
              <a:rPr kumimoji="1" lang="ko-KR" altLang="en-US" dirty="0"/>
              <a:t> 꼴로 선언 가능</a:t>
            </a:r>
            <a:endParaRPr kumimoji="1" lang="en-US" altLang="ko-KR" dirty="0"/>
          </a:p>
          <a:p>
            <a:pPr lvl="2"/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771165-081E-A763-B754-6AAE80CB09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deque</a:t>
            </a:r>
            <a:endParaRPr kumimoji="1" lang="ko-KR" altLang="en-US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053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71172C5-2DC6-5E3C-E92A-D2698441FC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2B824-E3C5-68CE-0A7D-0F40EBC747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카드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r>
              <a:rPr kumimoji="1" lang="en-US" altLang="ko-KR" sz="2000" dirty="0">
                <a:solidFill>
                  <a:schemeClr val="bg1">
                    <a:lumMod val="50000"/>
                  </a:schemeClr>
                </a:solidFill>
              </a:rPr>
              <a:t>BOJ 2164</a:t>
            </a:r>
            <a:endParaRPr kumimoji="1"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B2B5C3-2946-D245-F136-A2735629A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70" y="1181100"/>
            <a:ext cx="5417860" cy="492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F45F30C-3C3A-ABE0-97B2-D207D21CE4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set</a:t>
            </a:r>
            <a:r>
              <a:rPr kumimoji="1" lang="ko-KR" altLang="en-US" dirty="0"/>
              <a:t>이란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en-US" altLang="ko-KR" dirty="0"/>
              <a:t>set</a:t>
            </a:r>
            <a:r>
              <a:rPr kumimoji="1" lang="ko-KR" altLang="en-US" dirty="0"/>
              <a:t>은 집합을 구현한 내장 클래스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C++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set, </a:t>
            </a:r>
            <a:r>
              <a:rPr kumimoji="1" lang="en-US" altLang="ko-KR" dirty="0" err="1"/>
              <a:t>unordered_set</a:t>
            </a:r>
            <a:r>
              <a:rPr kumimoji="1" lang="ko-KR" altLang="en-US" dirty="0"/>
              <a:t>과 유사한 클래스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중복된 원소가 없으며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순서가 없음 </a:t>
            </a:r>
            <a:r>
              <a:rPr kumimoji="1" lang="en-US" altLang="ko-KR" dirty="0"/>
              <a:t>(hash table</a:t>
            </a:r>
            <a:r>
              <a:rPr kumimoji="1" lang="ko-KR" altLang="en-US" dirty="0"/>
              <a:t>로 구현됨</a:t>
            </a:r>
            <a:r>
              <a:rPr kumimoji="1" lang="en-US" altLang="ko-KR" dirty="0"/>
              <a:t>)</a:t>
            </a:r>
          </a:p>
          <a:p>
            <a:pPr lvl="1"/>
            <a:r>
              <a:rPr kumimoji="1" lang="en-US" altLang="ko-KR" dirty="0"/>
              <a:t>PS</a:t>
            </a:r>
            <a:r>
              <a:rPr kumimoji="1" lang="ko-KR" altLang="en-US" dirty="0"/>
              <a:t>에서는 중복 제거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원소 존재 여부 확인 등에 사용됨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= set(), set(list)</a:t>
            </a:r>
            <a:r>
              <a:rPr kumimoji="1" lang="ko-KR" altLang="en-US" dirty="0"/>
              <a:t> 등의 방법으로 정의</a:t>
            </a:r>
            <a:endParaRPr kumimoji="1"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062CCD-5924-6987-B5B1-B7BB6A5A37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 set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166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4DAFCEB-F94F-749A-B450-EA702434CA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/>
              <a:t>set </a:t>
            </a:r>
            <a:r>
              <a:rPr kumimoji="1" lang="ko-KR" altLang="en-US" dirty="0"/>
              <a:t>메소드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add(x) : set</a:t>
            </a:r>
            <a:r>
              <a:rPr kumimoji="1" lang="ko-KR" altLang="en-US" dirty="0"/>
              <a:t>에 원소 </a:t>
            </a:r>
            <a:r>
              <a:rPr kumimoji="1" lang="en-US" altLang="ko-KR" dirty="0"/>
              <a:t>x</a:t>
            </a:r>
            <a:r>
              <a:rPr kumimoji="1" lang="ko-KR" altLang="en-US" dirty="0"/>
              <a:t> 추가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remove(x) : set</a:t>
            </a:r>
            <a:r>
              <a:rPr kumimoji="1" lang="ko-KR" altLang="en-US" dirty="0"/>
              <a:t>에 원소</a:t>
            </a:r>
            <a:r>
              <a:rPr kumimoji="1" lang="en-US" altLang="ko-KR" dirty="0"/>
              <a:t> x </a:t>
            </a:r>
            <a:r>
              <a:rPr kumimoji="1" lang="ko-KR" altLang="en-US" dirty="0"/>
              <a:t>삭제</a:t>
            </a:r>
            <a:endParaRPr kumimoji="1" lang="en-US" altLang="ko-KR" dirty="0"/>
          </a:p>
          <a:p>
            <a:pPr lvl="2"/>
            <a:r>
              <a:rPr kumimoji="1" lang="ko-KR" altLang="en-US" dirty="0"/>
              <a:t>없으면 에러 발생</a:t>
            </a:r>
            <a:endParaRPr kumimoji="1" lang="en-US" altLang="ko-KR" dirty="0"/>
          </a:p>
          <a:p>
            <a:r>
              <a:rPr kumimoji="1" lang="en-US" altLang="ko-KR" dirty="0"/>
              <a:t>set</a:t>
            </a:r>
            <a:r>
              <a:rPr kumimoji="1" lang="ko-KR" altLang="en-US" dirty="0"/>
              <a:t>의 주요 연산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x in a : set a</a:t>
            </a:r>
            <a:r>
              <a:rPr kumimoji="1" lang="ko-KR" altLang="en-US" dirty="0"/>
              <a:t>에 </a:t>
            </a:r>
            <a:r>
              <a:rPr kumimoji="1" lang="en-US" altLang="ko-KR" dirty="0"/>
              <a:t>x</a:t>
            </a:r>
            <a:r>
              <a:rPr kumimoji="1" lang="ko-KR" altLang="en-US" dirty="0"/>
              <a:t>가 존재하는지 확인</a:t>
            </a:r>
            <a:endParaRPr kumimoji="1" lang="en-US" altLang="ko-KR" dirty="0"/>
          </a:p>
          <a:p>
            <a:pPr lvl="2"/>
            <a:r>
              <a:rPr kumimoji="1" lang="en-US" altLang="ko-KR" dirty="0"/>
              <a:t>in </a:t>
            </a:r>
            <a:r>
              <a:rPr kumimoji="1" lang="ko-KR" altLang="en-US" dirty="0"/>
              <a:t>은 어떤 값이 특정 컨테이너에 존재하는지 확인할 때 사용함</a:t>
            </a:r>
            <a:r>
              <a:rPr kumimoji="1" lang="en-US" altLang="ko-KR" dirty="0"/>
              <a:t>.</a:t>
            </a:r>
            <a:r>
              <a:rPr kumimoji="1" lang="ko-KR" altLang="en-US" dirty="0"/>
              <a:t> 멤버십 연산자에 대해 공부해보자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&amp; b : a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b</a:t>
            </a:r>
            <a:r>
              <a:rPr kumimoji="1" lang="ko-KR" altLang="en-US" dirty="0"/>
              <a:t>의 교집합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| b : a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b</a:t>
            </a:r>
            <a:r>
              <a:rPr kumimoji="1" lang="ko-KR" altLang="en-US" dirty="0"/>
              <a:t>의 합집합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 – b : a </a:t>
            </a:r>
            <a:r>
              <a:rPr kumimoji="1" lang="ko-KR" altLang="en-US" dirty="0" err="1"/>
              <a:t>차집합</a:t>
            </a:r>
            <a:r>
              <a:rPr kumimoji="1" lang="ko-KR" altLang="en-US" dirty="0"/>
              <a:t> </a:t>
            </a:r>
            <a:r>
              <a:rPr kumimoji="1" lang="en-US" altLang="ko-KR" dirty="0"/>
              <a:t>b</a:t>
            </a:r>
            <a:r>
              <a:rPr kumimoji="1" lang="ko-KR" altLang="en-US" dirty="0"/>
              <a:t> 반환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2"/>
            <a:endParaRPr kumimoji="1" lang="en-US" altLang="ko-KR" dirty="0"/>
          </a:p>
          <a:p>
            <a:pPr marL="0" indent="0">
              <a:buNone/>
            </a:pP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E54FAE-06B7-5412-88BD-29D37C8C11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/>
              <a:t>set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55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653A33-E217-E90B-AB9C-92AE296FF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B3F8F0-A78F-66C2-2888-1ADD536ACC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수 찾기 </a:t>
            </a:r>
            <a:r>
              <a:rPr kumimoji="1" lang="en-US" altLang="ko-KR" sz="2000" dirty="0">
                <a:solidFill>
                  <a:schemeClr val="bg1">
                    <a:lumMod val="50000"/>
                  </a:schemeClr>
                </a:solidFill>
              </a:rPr>
              <a:t>BOJ 1920</a:t>
            </a:r>
            <a:endParaRPr kumimoji="1"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D3B471-9D40-6B09-EDFF-50B56FB0B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062" y="1181100"/>
            <a:ext cx="5081875" cy="535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1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5097F9-2116-38F4-F2F9-472A13E373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 err="1"/>
              <a:t>dict</a:t>
            </a:r>
            <a:r>
              <a:rPr kumimoji="1" lang="ko-KR" altLang="en-US" dirty="0"/>
              <a:t>란</a:t>
            </a:r>
            <a:r>
              <a:rPr kumimoji="1" lang="en-US" altLang="ko-KR" dirty="0"/>
              <a:t>?</a:t>
            </a:r>
          </a:p>
          <a:p>
            <a:pPr lvl="1"/>
            <a:r>
              <a:rPr kumimoji="1" lang="en-US" altLang="ko-KR" dirty="0" err="1"/>
              <a:t>dict</a:t>
            </a:r>
            <a:r>
              <a:rPr kumimoji="1" lang="ko-KR" altLang="en-US" dirty="0"/>
              <a:t>는 사전</a:t>
            </a:r>
            <a:r>
              <a:rPr kumimoji="1" lang="en-US" altLang="ko-KR" dirty="0"/>
              <a:t>(dictionary)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구현한 클래스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C++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map, </a:t>
            </a:r>
            <a:r>
              <a:rPr kumimoji="1" lang="en-US" altLang="ko-KR" dirty="0" err="1"/>
              <a:t>unordered_map</a:t>
            </a:r>
            <a:r>
              <a:rPr kumimoji="1" lang="ko-KR" altLang="en-US" dirty="0"/>
              <a:t>과 유사함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python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set</a:t>
            </a:r>
            <a:r>
              <a:rPr kumimoji="1" lang="ko-KR" altLang="en-US" dirty="0"/>
              <a:t>과 마찬가지로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hash table</a:t>
            </a:r>
            <a:r>
              <a:rPr kumimoji="1" lang="ko-KR" altLang="en-US" dirty="0"/>
              <a:t> 로 구현되어 삽입 삭제 정렬이 </a:t>
            </a:r>
            <a:r>
              <a:rPr kumimoji="1" lang="en-US" altLang="ko-KR" dirty="0"/>
              <a:t>O(1)</a:t>
            </a:r>
            <a:r>
              <a:rPr kumimoji="1" lang="ko-KR" altLang="en-US" dirty="0"/>
              <a:t>의 시간 복잡도를 가짐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24FCF-A00A-4769-1F85-2677B20299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–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dict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9885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F61478F-4476-BD83-7CD5-B755039E5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dirty="0" err="1"/>
              <a:t>dict</a:t>
            </a:r>
            <a:r>
              <a:rPr kumimoji="1" lang="en-US" altLang="ko-KR" dirty="0"/>
              <a:t> </a:t>
            </a:r>
            <a:r>
              <a:rPr kumimoji="1" lang="ko-KR" altLang="en-US" dirty="0"/>
              <a:t>메소드 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get(key) : key</a:t>
            </a:r>
            <a:r>
              <a:rPr kumimoji="1" lang="ko-KR" altLang="en-US" dirty="0"/>
              <a:t>에 대응되는 값 반환 </a:t>
            </a:r>
            <a:r>
              <a:rPr kumimoji="1" lang="en-US" altLang="ko-KR" dirty="0"/>
              <a:t>(</a:t>
            </a:r>
            <a:r>
              <a:rPr kumimoji="1" lang="ko-KR" altLang="en-US" dirty="0"/>
              <a:t>없다면 </a:t>
            </a:r>
            <a:r>
              <a:rPr kumimoji="1" lang="en-US" altLang="ko-KR" dirty="0"/>
              <a:t>None</a:t>
            </a:r>
            <a:r>
              <a:rPr kumimoji="1" lang="ko-KR" altLang="en-US" dirty="0"/>
              <a:t> 반환</a:t>
            </a:r>
            <a:r>
              <a:rPr kumimoji="1" lang="en-US" altLang="ko-KR" dirty="0"/>
              <a:t>)</a:t>
            </a:r>
          </a:p>
          <a:p>
            <a:pPr lvl="1"/>
            <a:r>
              <a:rPr kumimoji="1" lang="en-US" altLang="ko-KR" dirty="0"/>
              <a:t>keys() : </a:t>
            </a:r>
            <a:r>
              <a:rPr kumimoji="1" lang="ko-KR" altLang="en-US" dirty="0"/>
              <a:t>모든 키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values() : </a:t>
            </a:r>
            <a:r>
              <a:rPr kumimoji="1" lang="ko-KR" altLang="en-US" dirty="0"/>
              <a:t>모든 </a:t>
            </a:r>
            <a:r>
              <a:rPr kumimoji="1" lang="en-US" altLang="ko-KR" dirty="0"/>
              <a:t>value</a:t>
            </a:r>
            <a:r>
              <a:rPr kumimoji="1" lang="ko-KR" altLang="en-US" dirty="0"/>
              <a:t> 반환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items() : </a:t>
            </a:r>
            <a:r>
              <a:rPr kumimoji="1" lang="ko-KR" altLang="en-US" dirty="0"/>
              <a:t>모든 </a:t>
            </a:r>
            <a:r>
              <a:rPr kumimoji="1" lang="en-US" altLang="ko-KR" dirty="0"/>
              <a:t>(key, value)</a:t>
            </a:r>
            <a:r>
              <a:rPr kumimoji="1" lang="ko-KR" altLang="en-US" dirty="0"/>
              <a:t> 쌍 반환</a:t>
            </a:r>
            <a:endParaRPr kumimoji="1" lang="en-US" altLang="ko-KR" dirty="0"/>
          </a:p>
          <a:p>
            <a:r>
              <a:rPr kumimoji="1" lang="en-US" altLang="ko-KR" dirty="0" err="1"/>
              <a:t>dict</a:t>
            </a:r>
            <a:r>
              <a:rPr kumimoji="1" lang="ko-KR" altLang="en-US" dirty="0"/>
              <a:t>의 주요</a:t>
            </a:r>
            <a:r>
              <a:rPr kumimoji="1" lang="en-US" altLang="ko-KR" dirty="0"/>
              <a:t> </a:t>
            </a:r>
            <a:r>
              <a:rPr kumimoji="1" lang="ko-KR" altLang="en-US" dirty="0"/>
              <a:t>연산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d[key] : </a:t>
            </a:r>
            <a:r>
              <a:rPr kumimoji="1" lang="en-US" altLang="ko-KR" dirty="0" err="1"/>
              <a:t>dict</a:t>
            </a:r>
            <a:r>
              <a:rPr kumimoji="1" lang="en-US" altLang="ko-KR" dirty="0"/>
              <a:t> d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에 대응되는 </a:t>
            </a:r>
            <a:r>
              <a:rPr kumimoji="1" lang="en-US" altLang="ko-KR" dirty="0"/>
              <a:t>value</a:t>
            </a:r>
            <a:r>
              <a:rPr kumimoji="1" lang="ko-KR" altLang="en-US" dirty="0"/>
              <a:t> 접근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key in d : </a:t>
            </a:r>
            <a:r>
              <a:rPr kumimoji="1" lang="en-US" altLang="ko-KR" dirty="0" err="1"/>
              <a:t>dict</a:t>
            </a:r>
            <a:r>
              <a:rPr kumimoji="1" lang="ko-KR" altLang="en-US" dirty="0"/>
              <a:t>에 해당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가 존재하는지 확인</a:t>
            </a:r>
            <a:endParaRPr kumimoji="1" lang="en-US" altLang="ko-KR" dirty="0"/>
          </a:p>
          <a:p>
            <a:pPr lvl="1"/>
            <a:endParaRPr kumimoji="1" lang="en-US" altLang="ko-KR" dirty="0"/>
          </a:p>
          <a:p>
            <a:pPr lvl="1"/>
            <a:endParaRPr kumimoji="1"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C8EB81-51D0-62B0-D7C3-A55E66031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클래스 </a:t>
            </a:r>
            <a:r>
              <a:rPr kumimoji="1" lang="en-US" altLang="ko-KR" dirty="0"/>
              <a:t>- </a:t>
            </a:r>
            <a:r>
              <a:rPr kumimoji="1" lang="en-US" altLang="ko-KR" dirty="0" err="1"/>
              <a:t>dict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240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394A496-0CAC-B2D9-8DBC-2DB7FE97E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F46F68-DB35-DCAA-AB6A-4943172F72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 dirty="0"/>
              <a:t>비밀번호 찾기 </a:t>
            </a:r>
            <a:r>
              <a:rPr kumimoji="1" lang="en-US" altLang="ko-KR" sz="2000" dirty="0">
                <a:solidFill>
                  <a:schemeClr val="bg1">
                    <a:lumMod val="50000"/>
                  </a:schemeClr>
                </a:solidFill>
              </a:rPr>
              <a:t>BOJ 17219</a:t>
            </a:r>
            <a:endParaRPr kumimoji="1"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2377F2-7D8B-46FA-0C35-F6550E2F3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973" y="1181100"/>
            <a:ext cx="5564054" cy="52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8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557</Words>
  <Application>Microsoft Macintosh PowerPoint</Application>
  <PresentationFormat>와이드스크린</PresentationFormat>
  <Paragraphs>82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Pretendard</vt:lpstr>
      <vt:lpstr>Pretendard Black</vt:lpstr>
      <vt:lpstr>Pretendard Bold</vt:lpstr>
      <vt:lpstr>Pretendard Regular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승민 하</dc:creator>
  <cp:lastModifiedBy>승민 하</cp:lastModifiedBy>
  <cp:revision>5</cp:revision>
  <dcterms:created xsi:type="dcterms:W3CDTF">2026-03-06T06:53:05Z</dcterms:created>
  <dcterms:modified xsi:type="dcterms:W3CDTF">2026-03-06T08:38:38Z</dcterms:modified>
</cp:coreProperties>
</file>